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7432000" cy="384048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00" cy="4754880"/>
          </a:xfrm>
          <a:prstGeom prst="rect">
            <a:avLst/>
          </a:prstGeom>
          <a:solidFill>
            <a:srgbClr val="0B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754880"/>
            <a:ext cx="9144000" cy="13716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0" y="4754880"/>
            <a:ext cx="9144000" cy="137160"/>
          </a:xfrm>
          <a:prstGeom prst="rect">
            <a:avLst/>
          </a:prstGeom>
          <a:solidFill>
            <a:srgbClr val="A8B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8288000" y="4754880"/>
            <a:ext cx="9235440" cy="137160"/>
          </a:xfrm>
          <a:prstGeom prst="rect">
            <a:avLst/>
          </a:prstGeom>
          <a:solidFill>
            <a:srgbClr val="B87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274320"/>
            <a:ext cx="182880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4800" b="0" i="0">
                <a:solidFill>
                  <a:srgbClr val="20355A"/>
                </a:solidFill>
                <a:latin typeface="Calibri"/>
              </a:defRPr>
            </a:pPr>
            <a:r>
              <a:t>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1097280"/>
            <a:ext cx="182880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0" b="0" i="0">
                <a:solidFill>
                  <a:srgbClr val="20355A"/>
                </a:solidFill>
                <a:latin typeface="Calibri"/>
              </a:defRPr>
            </a:pPr>
            <a:r>
              <a:t>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0" y="731520"/>
            <a:ext cx="182880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4000" b="0" i="0">
                <a:solidFill>
                  <a:srgbClr val="20355A"/>
                </a:solidFill>
                <a:latin typeface="Calibri"/>
              </a:defRPr>
            </a:pPr>
            <a:r>
              <a:t>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774400" y="1828800"/>
            <a:ext cx="182880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5500" b="0" i="0">
                <a:solidFill>
                  <a:srgbClr val="20355A"/>
                </a:solidFill>
                <a:latin typeface="Calibri"/>
              </a:defRPr>
            </a:pPr>
            <a:r>
              <a:t>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731520"/>
            <a:ext cx="25968960" cy="20116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5200" b="1" i="0">
                <a:solidFill>
                  <a:srgbClr val="FFFFFF"/>
                </a:solidFill>
                <a:latin typeface="Georgia"/>
              </a:defRPr>
            </a:pPr>
            <a:r>
              <a:t>Predicting Winter Olympic Medal Success: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194560"/>
            <a:ext cx="2596896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4800" b="1" i="0">
                <a:solidFill>
                  <a:srgbClr val="D4A843"/>
                </a:solidFill>
                <a:latin typeface="Georgia"/>
              </a:defRPr>
            </a:pPr>
            <a:r>
              <a:t>Athlete &amp; Country Characteristics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108960"/>
            <a:ext cx="259689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400" b="0" i="0">
                <a:solidFill>
                  <a:srgbClr val="CBD5E1"/>
                </a:solidFill>
                <a:latin typeface="Calibri"/>
              </a:defRPr>
            </a:pPr>
            <a:r>
              <a:t>A Data-Driven Approach to Improving Canada's Medal Count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840480"/>
            <a:ext cx="259689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0" i="0">
                <a:solidFill>
                  <a:srgbClr val="8A9BB5"/>
                </a:solidFill>
                <a:latin typeface="Calibri"/>
              </a:defRPr>
            </a:pPr>
            <a:r>
              <a:t>Your Name  |  Department / Program  |  University  |  your.email@university.ca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5394960"/>
            <a:ext cx="109728" cy="4572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5349240"/>
            <a:ext cx="1243584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 i="0">
                <a:solidFill>
                  <a:srgbClr val="0B1D3A"/>
                </a:solidFill>
                <a:latin typeface="Georgia"/>
              </a:defRPr>
            </a:pPr>
            <a:r>
              <a:t>Introduction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6080760"/>
            <a:ext cx="12710160" cy="23774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600"/>
              </a:spcAft>
              <a:defRPr sz="1800" b="0" i="0">
                <a:solidFill>
                  <a:srgbClr val="475569"/>
                </a:solidFill>
                <a:latin typeface="Calibri"/>
              </a:defRPr>
            </a:pPr>
            <a:r>
              <a:t>The Winter Olympic Games represent the pinnacle of athletic performance in cold-weather sports. Success at these games is influenced by a complex interplay of athlete-level and country-level characteristics.</a:t>
            </a:r>
            <a:br/>
            <a:br/>
            <a:r>
              <a:t>This study examines how individual athlete attributes and national socioeconomic indicators correspond with medal outcomes, with a specific focus on actionable insights for improving Canada's competitive position.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8458200"/>
            <a:ext cx="12710160" cy="1645920"/>
          </a:xfrm>
          <a:prstGeom prst="rect">
            <a:avLst/>
          </a:prstGeom>
          <a:solidFill>
            <a:srgbClr val="132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8641080"/>
            <a:ext cx="12161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 i="0">
                <a:solidFill>
                  <a:srgbClr val="D4A843"/>
                </a:solidFill>
                <a:latin typeface="Calibri"/>
              </a:defRPr>
            </a:pPr>
            <a:r>
              <a:t>RESEARCH QUESTION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8961120"/>
            <a:ext cx="12161520" cy="10058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900" b="1" i="0">
                <a:solidFill>
                  <a:srgbClr val="FFFFFF"/>
                </a:solidFill>
                <a:latin typeface="Georgia"/>
              </a:defRPr>
            </a:pPr>
            <a:r>
              <a:t>Which athlete and country characteristics are most predictive of Winter Olympic medal success, and how can Canada leverage these insights to improve its medal count?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10515600"/>
            <a:ext cx="109728" cy="4572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10469880"/>
            <a:ext cx="1243584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 i="0">
                <a:solidFill>
                  <a:srgbClr val="0B1D3A"/>
                </a:solidFill>
                <a:latin typeface="Georgia"/>
              </a:defRPr>
            </a:pPr>
            <a:r>
              <a:t>Methods &amp; Data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11201400"/>
            <a:ext cx="12710160" cy="1280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600"/>
              </a:spcAft>
              <a:defRPr sz="1800" b="0" i="0">
                <a:solidFill>
                  <a:srgbClr val="475569"/>
                </a:solidFill>
                <a:latin typeface="Calibri"/>
              </a:defRPr>
            </a:pPr>
            <a:r>
              <a:t>Data were acquired from [your sources] covering Winter Olympic results from [year range]. The dataset includes athlete demographics and national economic indicators for all participating countries.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12573000"/>
            <a:ext cx="127101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 i="0">
                <a:solidFill>
                  <a:srgbClr val="1E4D8C"/>
                </a:solidFill>
                <a:latin typeface="Calibri"/>
              </a:defRPr>
            </a:pPr>
            <a:r>
              <a:t>ATHLETE VARIABLES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" y="12938760"/>
            <a:ext cx="1463040" cy="457200"/>
          </a:xfrm>
          <a:prstGeom prst="rect">
            <a:avLst/>
          </a:prstGeom>
          <a:solidFill>
            <a:srgbClr val="E8EEF6"/>
          </a:solidFill>
          <a:ln w="12700">
            <a:solidFill>
              <a:srgbClr val="B0C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12966192"/>
            <a:ext cx="14630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500" b="1" i="0">
                <a:solidFill>
                  <a:srgbClr val="1E4D8C"/>
                </a:solidFill>
                <a:latin typeface="Calibri"/>
              </a:defRPr>
            </a:pPr>
            <a:r>
              <a:t>Age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331720" y="12938760"/>
            <a:ext cx="1463040" cy="457200"/>
          </a:xfrm>
          <a:prstGeom prst="rect">
            <a:avLst/>
          </a:prstGeom>
          <a:solidFill>
            <a:srgbClr val="E8EEF6"/>
          </a:solidFill>
          <a:ln w="12700">
            <a:solidFill>
              <a:srgbClr val="B0C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331720" y="12966192"/>
            <a:ext cx="14630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500" b="1" i="0">
                <a:solidFill>
                  <a:srgbClr val="1E4D8C"/>
                </a:solidFill>
                <a:latin typeface="Calibri"/>
              </a:defRPr>
            </a:pPr>
            <a:r>
              <a:t>Height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931920" y="12938760"/>
            <a:ext cx="1463040" cy="457200"/>
          </a:xfrm>
          <a:prstGeom prst="rect">
            <a:avLst/>
          </a:prstGeom>
          <a:solidFill>
            <a:srgbClr val="E8EEF6"/>
          </a:solidFill>
          <a:ln w="12700">
            <a:solidFill>
              <a:srgbClr val="B0C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931920" y="12966192"/>
            <a:ext cx="14630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500" b="1" i="0">
                <a:solidFill>
                  <a:srgbClr val="1E4D8C"/>
                </a:solidFill>
                <a:latin typeface="Calibri"/>
              </a:defRPr>
            </a:pPr>
            <a:r>
              <a:t>Weight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532120" y="12938760"/>
            <a:ext cx="2011680" cy="457200"/>
          </a:xfrm>
          <a:prstGeom prst="rect">
            <a:avLst/>
          </a:prstGeom>
          <a:solidFill>
            <a:srgbClr val="E8EEF6"/>
          </a:solidFill>
          <a:ln w="12700">
            <a:solidFill>
              <a:srgbClr val="B0C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532120" y="12966192"/>
            <a:ext cx="20116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500" b="1" i="0">
                <a:solidFill>
                  <a:srgbClr val="1E4D8C"/>
                </a:solidFill>
                <a:latin typeface="Calibri"/>
              </a:defRPr>
            </a:pPr>
            <a:r>
              <a:t>Birth City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13578840"/>
            <a:ext cx="127101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 i="0">
                <a:solidFill>
                  <a:srgbClr val="B87333"/>
                </a:solidFill>
                <a:latin typeface="Calibri"/>
              </a:defRPr>
            </a:pPr>
            <a:r>
              <a:t>COUNTRY VARIABLES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31520" y="13944600"/>
            <a:ext cx="2011680" cy="457200"/>
          </a:xfrm>
          <a:prstGeom prst="rect">
            <a:avLst/>
          </a:prstGeom>
          <a:solidFill>
            <a:srgbClr val="FDF3E0"/>
          </a:solidFill>
          <a:ln w="12700">
            <a:solidFill>
              <a:srgbClr val="E0C8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31520" y="13972032"/>
            <a:ext cx="20116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500" b="1" i="0">
                <a:solidFill>
                  <a:srgbClr val="B87333"/>
                </a:solidFill>
                <a:latin typeface="Calibri"/>
              </a:defRPr>
            </a:pPr>
            <a:r>
              <a:t>Population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880360" y="13944600"/>
            <a:ext cx="2011680" cy="457200"/>
          </a:xfrm>
          <a:prstGeom prst="rect">
            <a:avLst/>
          </a:prstGeom>
          <a:solidFill>
            <a:srgbClr val="FDF3E0"/>
          </a:solidFill>
          <a:ln w="12700">
            <a:solidFill>
              <a:srgbClr val="E0C8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880360" y="13972032"/>
            <a:ext cx="20116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500" b="1" i="0">
                <a:solidFill>
                  <a:srgbClr val="B87333"/>
                </a:solidFill>
                <a:latin typeface="Calibri"/>
              </a:defRPr>
            </a:pPr>
            <a:r>
              <a:t>GDP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029200" y="13944600"/>
            <a:ext cx="2560320" cy="457200"/>
          </a:xfrm>
          <a:prstGeom prst="rect">
            <a:avLst/>
          </a:prstGeom>
          <a:solidFill>
            <a:srgbClr val="FDF3E0"/>
          </a:solidFill>
          <a:ln w="12700">
            <a:solidFill>
              <a:srgbClr val="E0C8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029200" y="13972032"/>
            <a:ext cx="256032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500" b="1" i="0">
                <a:solidFill>
                  <a:srgbClr val="B87333"/>
                </a:solidFill>
                <a:latin typeface="Calibri"/>
              </a:defRPr>
            </a:pPr>
            <a:r>
              <a:t>GDP per Capita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14676120"/>
            <a:ext cx="1271016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600"/>
              </a:spcAft>
              <a:defRPr sz="1800" b="0" i="0">
                <a:solidFill>
                  <a:srgbClr val="475569"/>
                </a:solidFill>
                <a:latin typeface="Calibri"/>
              </a:defRPr>
            </a:pPr>
            <a:r>
              <a:t>Analytical methods included [e.g., logistic regression, random forest, correlation analysis]. Model performance was evaluated using [metrics].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31520" y="15773400"/>
            <a:ext cx="12710160" cy="3200400"/>
          </a:xfrm>
          <a:prstGeom prst="rect">
            <a:avLst/>
          </a:prstGeom>
          <a:solidFill>
            <a:srgbClr val="F0F4F8"/>
          </a:solidFill>
          <a:ln w="254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31520" y="16962120"/>
            <a:ext cx="1271016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0" i="1">
                <a:solidFill>
                  <a:srgbClr val="475569"/>
                </a:solidFill>
                <a:latin typeface="Calibri"/>
              </a:defRPr>
            </a:pPr>
            <a:r>
              <a:t>📊  Insert: Data pipeline / methodology diagram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31520" y="19293840"/>
            <a:ext cx="109728" cy="4572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05840" y="19248120"/>
            <a:ext cx="1243584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 i="0">
                <a:solidFill>
                  <a:srgbClr val="0B1D3A"/>
                </a:solidFill>
                <a:latin typeface="Georgia"/>
              </a:defRPr>
            </a:pPr>
            <a:r>
              <a:t>References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31520" y="19979640"/>
            <a:ext cx="12710160" cy="2286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600"/>
              </a:spcAft>
              <a:defRPr sz="1500" b="0" i="0">
                <a:solidFill>
                  <a:srgbClr val="475569"/>
                </a:solidFill>
                <a:latin typeface="Calibri"/>
              </a:defRPr>
            </a:pPr>
            <a:r>
              <a:t>[1] Author, A. (Year). Title of paper. Journal Name, Vol(Issue), pp–pp.</a:t>
            </a:r>
            <a:br/>
            <a:r>
              <a:t>[2] Author, B. (Year). Title of paper. Journal Name, Vol(Issue), pp–pp.</a:t>
            </a:r>
            <a:br/>
            <a:r>
              <a:t>[3] Author, C. (Year). Title of paper. Journal Name, Vol(Issue), pp–pp.</a:t>
            </a:r>
            <a:br/>
            <a:r>
              <a:t>[4] International Olympic Committee. (Year). Historical Results Database.</a:t>
            </a:r>
            <a:br/>
            <a:r>
              <a:t>[5] World Bank. (Year). World Development Indicators.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3990320" y="5394960"/>
            <a:ext cx="109728" cy="4572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4264640" y="5349240"/>
            <a:ext cx="1243584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 i="0">
                <a:solidFill>
                  <a:srgbClr val="0B1D3A"/>
                </a:solidFill>
                <a:latin typeface="Georgia"/>
              </a:defRPr>
            </a:pPr>
            <a:r>
              <a:t>Key Results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3990320" y="6080760"/>
            <a:ext cx="12710160" cy="7772400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3990320" y="6355080"/>
            <a:ext cx="127101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200" b="1" i="0">
                <a:solidFill>
                  <a:srgbClr val="0B1D3A"/>
                </a:solidFill>
                <a:latin typeface="Georgia"/>
              </a:defRPr>
            </a:pPr>
            <a:r>
              <a:t>Top Predictors of Medal Success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4447520" y="10104120"/>
            <a:ext cx="3749040" cy="2560320"/>
          </a:xfrm>
          <a:prstGeom prst="rect">
            <a:avLst/>
          </a:prstGeom>
          <a:solidFill>
            <a:srgbClr val="A8B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4447520" y="10378440"/>
            <a:ext cx="374904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4800" b="1" i="0">
                <a:solidFill>
                  <a:srgbClr val="FFFFFF"/>
                </a:solidFill>
                <a:latin typeface="Georgia"/>
              </a:defRPr>
            </a:pPr>
            <a:r>
              <a:t>2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4447520" y="8732520"/>
            <a:ext cx="3749040" cy="12801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000" b="1" i="0">
                <a:solidFill>
                  <a:srgbClr val="0B1D3A"/>
                </a:solidFill>
                <a:latin typeface="Calibri"/>
              </a:defRPr>
            </a:pPr>
            <a:r>
              <a:t>GDP per</a:t>
            </a:r>
            <a:br/>
            <a:r>
              <a:t>Capita</a:t>
            </a:r>
          </a:p>
        </p:txBody>
      </p:sp>
      <p:sp>
        <p:nvSpPr>
          <p:cNvPr id="52" name="Oval 51"/>
          <p:cNvSpPr/>
          <p:nvPr/>
        </p:nvSpPr>
        <p:spPr>
          <a:xfrm>
            <a:off x="16002000" y="8458200"/>
            <a:ext cx="640080" cy="640080"/>
          </a:xfrm>
          <a:prstGeom prst="ellipse">
            <a:avLst/>
          </a:prstGeom>
          <a:solidFill>
            <a:srgbClr val="A8B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6002000" y="8503920"/>
            <a:ext cx="640080" cy="5943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1" i="0">
                <a:solidFill>
                  <a:srgbClr val="FFFFFF"/>
                </a:solidFill>
                <a:latin typeface="Georgia"/>
              </a:defRPr>
            </a:pPr>
            <a:r>
              <a:t>2nd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8470880" y="9189720"/>
            <a:ext cx="3749040" cy="347472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8470880" y="9464040"/>
            <a:ext cx="3749040" cy="8229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6000" b="1" i="0">
                <a:solidFill>
                  <a:srgbClr val="FFFFFF"/>
                </a:solidFill>
                <a:latin typeface="Georgia"/>
              </a:defRPr>
            </a:pPr>
            <a:r>
              <a:t>1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8470880" y="7818120"/>
            <a:ext cx="3749040" cy="12801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000" b="1" i="0">
                <a:solidFill>
                  <a:srgbClr val="0B1D3A"/>
                </a:solidFill>
                <a:latin typeface="Calibri"/>
              </a:defRPr>
            </a:pPr>
            <a:r>
              <a:t>[Top</a:t>
            </a:r>
            <a:br/>
            <a:r>
              <a:t>Factor]</a:t>
            </a:r>
          </a:p>
        </p:txBody>
      </p:sp>
      <p:sp>
        <p:nvSpPr>
          <p:cNvPr id="57" name="Oval 56"/>
          <p:cNvSpPr/>
          <p:nvPr/>
        </p:nvSpPr>
        <p:spPr>
          <a:xfrm>
            <a:off x="19979640" y="7498080"/>
            <a:ext cx="731520" cy="731520"/>
          </a:xfrm>
          <a:prstGeom prst="ellipse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9979640" y="7543800"/>
            <a:ext cx="7315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1" i="0">
                <a:solidFill>
                  <a:srgbClr val="FFFFFF"/>
                </a:solidFill>
                <a:latin typeface="Georgia"/>
              </a:defRPr>
            </a:pPr>
            <a:r>
              <a:t>1st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2494240" y="10835640"/>
            <a:ext cx="3749040" cy="1828800"/>
          </a:xfrm>
          <a:prstGeom prst="rect">
            <a:avLst/>
          </a:prstGeom>
          <a:solidFill>
            <a:srgbClr val="B87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2494240" y="11018520"/>
            <a:ext cx="374904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4200" b="1" i="0">
                <a:solidFill>
                  <a:srgbClr val="FFFFFF"/>
                </a:solidFill>
                <a:latin typeface="Georgia"/>
              </a:defRPr>
            </a:pPr>
            <a:r>
              <a:t>3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2494240" y="9464040"/>
            <a:ext cx="3749040" cy="12801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000" b="1" i="0">
                <a:solidFill>
                  <a:srgbClr val="0B1D3A"/>
                </a:solidFill>
                <a:latin typeface="Calibri"/>
              </a:defRPr>
            </a:pPr>
            <a:r>
              <a:t>Athlete</a:t>
            </a:r>
            <a:br/>
            <a:r>
              <a:t>Age</a:t>
            </a:r>
          </a:p>
        </p:txBody>
      </p:sp>
      <p:sp>
        <p:nvSpPr>
          <p:cNvPr id="62" name="Oval 61"/>
          <p:cNvSpPr/>
          <p:nvPr/>
        </p:nvSpPr>
        <p:spPr>
          <a:xfrm>
            <a:off x="24048720" y="9189720"/>
            <a:ext cx="640080" cy="640080"/>
          </a:xfrm>
          <a:prstGeom prst="ellipse">
            <a:avLst/>
          </a:prstGeom>
          <a:solidFill>
            <a:srgbClr val="B87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24048720" y="9235440"/>
            <a:ext cx="640080" cy="5943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1" i="0">
                <a:solidFill>
                  <a:srgbClr val="FFFFFF"/>
                </a:solidFill>
                <a:latin typeface="Georgia"/>
              </a:defRPr>
            </a:pPr>
            <a:r>
              <a:t>3rd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3990320" y="14218920"/>
            <a:ext cx="4114800" cy="1371600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3990320" y="14356080"/>
            <a:ext cx="4114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3600" b="1" i="0">
                <a:solidFill>
                  <a:srgbClr val="0F172A"/>
                </a:solidFill>
                <a:latin typeface="Georgia"/>
              </a:defRPr>
            </a:pPr>
            <a:r>
              <a:t>XX%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3990320" y="15041880"/>
            <a:ext cx="41148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 i="0">
                <a:solidFill>
                  <a:srgbClr val="475569"/>
                </a:solidFill>
                <a:latin typeface="Calibri"/>
              </a:defRPr>
            </a:pPr>
            <a:r>
              <a:t>MODEL ACCURACY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8288000" y="14218920"/>
            <a:ext cx="4114800" cy="1371600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8288000" y="14356080"/>
            <a:ext cx="4114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3600" b="1" i="0">
                <a:solidFill>
                  <a:srgbClr val="D4A843"/>
                </a:solidFill>
                <a:latin typeface="Georgia"/>
              </a:defRPr>
            </a:pPr>
            <a:r>
              <a:t>X.XX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8288000" y="15041880"/>
            <a:ext cx="41148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 i="0">
                <a:solidFill>
                  <a:srgbClr val="475569"/>
                </a:solidFill>
                <a:latin typeface="Calibri"/>
              </a:defRPr>
            </a:pPr>
            <a:r>
              <a:t>TOP COEFFICIENT</a:t>
            </a:r>
          </a:p>
        </p:txBody>
      </p:sp>
      <p:sp>
        <p:nvSpPr>
          <p:cNvPr id="70" name="Rectangle 69"/>
          <p:cNvSpPr/>
          <p:nvPr/>
        </p:nvSpPr>
        <p:spPr>
          <a:xfrm>
            <a:off x="22585680" y="14218920"/>
            <a:ext cx="4114800" cy="1371600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22585680" y="14356080"/>
            <a:ext cx="4114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3600" b="1" i="0">
                <a:solidFill>
                  <a:srgbClr val="C41E3A"/>
                </a:solidFill>
                <a:latin typeface="Georgia"/>
              </a:defRPr>
            </a:pPr>
            <a:r>
              <a:t>🇨🇦 #X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2585680" y="15041880"/>
            <a:ext cx="41148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 i="0">
                <a:solidFill>
                  <a:srgbClr val="475569"/>
                </a:solidFill>
                <a:latin typeface="Calibri"/>
              </a:defRPr>
            </a:pPr>
            <a:r>
              <a:t>CANADA RANK</a:t>
            </a:r>
          </a:p>
        </p:txBody>
      </p:sp>
      <p:sp>
        <p:nvSpPr>
          <p:cNvPr id="73" name="Rectangle 72"/>
          <p:cNvSpPr/>
          <p:nvPr/>
        </p:nvSpPr>
        <p:spPr>
          <a:xfrm>
            <a:off x="13990320" y="15956280"/>
            <a:ext cx="12710160" cy="3200400"/>
          </a:xfrm>
          <a:prstGeom prst="rect">
            <a:avLst/>
          </a:prstGeom>
          <a:solidFill>
            <a:srgbClr val="F0F4F8"/>
          </a:solidFill>
          <a:ln w="254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13990320" y="17145000"/>
            <a:ext cx="1271016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0" i="1">
                <a:solidFill>
                  <a:srgbClr val="475569"/>
                </a:solidFill>
                <a:latin typeface="Calibri"/>
              </a:defRPr>
            </a:pPr>
            <a:r>
              <a:t>Insert: Feature importance / correlation chart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3990320" y="19476720"/>
            <a:ext cx="109728" cy="4572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14264640" y="19431000"/>
            <a:ext cx="1243584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 i="0">
                <a:solidFill>
                  <a:srgbClr val="0B1D3A"/>
                </a:solidFill>
                <a:latin typeface="Georgia"/>
              </a:defRPr>
            </a:pPr>
            <a:r>
              <a:t>Discussion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3990320" y="20162520"/>
            <a:ext cx="12710160" cy="2560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600"/>
              </a:spcAft>
              <a:defRPr sz="1800" b="0" i="0">
                <a:solidFill>
                  <a:srgbClr val="475569"/>
                </a:solidFill>
                <a:latin typeface="Calibri"/>
              </a:defRPr>
            </a:pPr>
            <a:r>
              <a:t>The analysis reveals that [top factor] is the strongest predictor of Winter Olympic medal outcomes. This aligns with / challenges existing literature suggesting that [insight].</a:t>
            </a:r>
            <a:br/>
            <a:br/>
            <a:r>
              <a:t>Country-level economic indicators, particularly GDP per capita, play a significant role — likely reflecting investment in sports infrastructure, training facilities, and athlete support programs.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3990320" y="22814280"/>
            <a:ext cx="12710160" cy="1828800"/>
          </a:xfrm>
          <a:prstGeom prst="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13990320" y="22814280"/>
            <a:ext cx="109728" cy="18288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14356080" y="22951440"/>
            <a:ext cx="121615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 i="0">
                <a:solidFill>
                  <a:srgbClr val="C41E3A"/>
                </a:solidFill>
                <a:latin typeface="Calibri"/>
              </a:defRPr>
            </a:pPr>
            <a:r>
              <a:t>CANADA'S POSITION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4356080" y="23271480"/>
            <a:ext cx="12161520" cy="1280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700" b="0" i="0">
                <a:solidFill>
                  <a:srgbClr val="475569"/>
                </a:solidFill>
                <a:latin typeface="Calibri"/>
              </a:defRPr>
            </a:pPr>
            <a:r>
              <a:t>Canada currently [performs well in / underperforms in] key areas. While [strength], there is room for improvement in [area], where top-performing nations like [country] invest significantly more.</a:t>
            </a:r>
          </a:p>
        </p:txBody>
      </p:sp>
      <p:sp>
        <p:nvSpPr>
          <p:cNvPr id="82" name="Rectangle 81"/>
          <p:cNvSpPr/>
          <p:nvPr/>
        </p:nvSpPr>
        <p:spPr>
          <a:xfrm>
            <a:off x="13990320" y="25054560"/>
            <a:ext cx="109728" cy="4572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14264640" y="25008840"/>
            <a:ext cx="1243584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 i="0">
                <a:solidFill>
                  <a:srgbClr val="0B1D3A"/>
                </a:solidFill>
                <a:latin typeface="Georgia"/>
              </a:defRPr>
            </a:pPr>
            <a:r>
              <a:t>Recommendations for Canada</a:t>
            </a:r>
          </a:p>
        </p:txBody>
      </p:sp>
      <p:sp>
        <p:nvSpPr>
          <p:cNvPr id="84" name="Oval 83"/>
          <p:cNvSpPr/>
          <p:nvPr/>
        </p:nvSpPr>
        <p:spPr>
          <a:xfrm>
            <a:off x="13990320" y="25740360"/>
            <a:ext cx="457200" cy="457200"/>
          </a:xfrm>
          <a:prstGeom prst="ellipse">
            <a:avLst/>
          </a:prstGeom>
          <a:solidFill>
            <a:srgbClr val="0B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D4A843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4630400" y="25740360"/>
            <a:ext cx="1207008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700" b="0" i="0">
                <a:solidFill>
                  <a:srgbClr val="475569"/>
                </a:solidFill>
                <a:latin typeface="Calibri"/>
              </a:defRPr>
            </a:pPr>
            <a:r>
              <a:t>[Your first recommendation — e.g., targeted investment in specific age demographics for athlete development pipelines]</a:t>
            </a:r>
          </a:p>
        </p:txBody>
      </p:sp>
      <p:sp>
        <p:nvSpPr>
          <p:cNvPr id="86" name="Oval 85"/>
          <p:cNvSpPr/>
          <p:nvPr/>
        </p:nvSpPr>
        <p:spPr>
          <a:xfrm>
            <a:off x="13990320" y="26654760"/>
            <a:ext cx="457200" cy="457200"/>
          </a:xfrm>
          <a:prstGeom prst="ellipse">
            <a:avLst/>
          </a:prstGeom>
          <a:solidFill>
            <a:srgbClr val="0B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D4A843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4630400" y="26654760"/>
            <a:ext cx="1207008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700" b="0" i="0">
                <a:solidFill>
                  <a:srgbClr val="475569"/>
                </a:solidFill>
                <a:latin typeface="Calibri"/>
              </a:defRPr>
            </a:pPr>
            <a:r>
              <a:t>[Second recommendation — e.g., expanding talent identification in underrepresented birth regions]</a:t>
            </a:r>
          </a:p>
        </p:txBody>
      </p:sp>
      <p:sp>
        <p:nvSpPr>
          <p:cNvPr id="88" name="Oval 87"/>
          <p:cNvSpPr/>
          <p:nvPr/>
        </p:nvSpPr>
        <p:spPr>
          <a:xfrm>
            <a:off x="13990320" y="27569160"/>
            <a:ext cx="457200" cy="457200"/>
          </a:xfrm>
          <a:prstGeom prst="ellipse">
            <a:avLst/>
          </a:prstGeom>
          <a:solidFill>
            <a:srgbClr val="0B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D4A843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4630400" y="27569160"/>
            <a:ext cx="1207008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700" b="0" i="0">
                <a:solidFill>
                  <a:srgbClr val="475569"/>
                </a:solidFill>
                <a:latin typeface="Calibri"/>
              </a:defRPr>
            </a:pPr>
            <a:r>
              <a:t>[Third recommendation — e.g., benchmarking funding models against top GDP/capita nations]</a:t>
            </a:r>
          </a:p>
        </p:txBody>
      </p:sp>
      <p:sp>
        <p:nvSpPr>
          <p:cNvPr id="90" name="Rectangle 89"/>
          <p:cNvSpPr/>
          <p:nvPr/>
        </p:nvSpPr>
        <p:spPr>
          <a:xfrm>
            <a:off x="0" y="36896040"/>
            <a:ext cx="9144000" cy="13716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9144000" y="36896040"/>
            <a:ext cx="9144000" cy="137160"/>
          </a:xfrm>
          <a:prstGeom prst="rect">
            <a:avLst/>
          </a:prstGeom>
          <a:solidFill>
            <a:srgbClr val="A8B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18288000" y="36896040"/>
            <a:ext cx="9235440" cy="137160"/>
          </a:xfrm>
          <a:prstGeom prst="rect">
            <a:avLst/>
          </a:prstGeom>
          <a:solidFill>
            <a:srgbClr val="B87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0" y="37033200"/>
            <a:ext cx="27432000" cy="1371600"/>
          </a:xfrm>
          <a:prstGeom prst="rect">
            <a:avLst/>
          </a:prstGeom>
          <a:solidFill>
            <a:srgbClr val="0B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731520" y="37307520"/>
            <a:ext cx="146304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0" i="0">
                <a:solidFill>
                  <a:srgbClr val="6B7B95"/>
                </a:solidFill>
                <a:latin typeface="Calibri"/>
              </a:defRPr>
            </a:pPr>
            <a:r>
              <a:t>Data Sources: [Olympic Database, World Bank, etc.]  •  Presented at [Conference / Course Name] — [Date]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9385280" y="37216080"/>
            <a:ext cx="7315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000" b="0" i="0">
                <a:solidFill>
                  <a:srgbClr val="6B7B95"/>
                </a:solidFill>
                <a:latin typeface="Calibri"/>
              </a:defRPr>
            </a:pPr>
            <a:r>
              <a:t>PORTFOLIO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9385280" y="37536120"/>
            <a:ext cx="7315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800" b="1" i="0">
                <a:solidFill>
                  <a:srgbClr val="D4A843"/>
                </a:solidFill>
                <a:latin typeface="Calibri"/>
              </a:defRPr>
            </a:pPr>
            <a:r>
              <a:t>yourwebsite.com</a:t>
            </a:r>
          </a:p>
        </p:txBody>
      </p:sp>
      <p:sp>
        <p:nvSpPr>
          <p:cNvPr id="97" name="Rectangle 96"/>
          <p:cNvSpPr/>
          <p:nvPr/>
        </p:nvSpPr>
        <p:spPr>
          <a:xfrm>
            <a:off x="25786080" y="37261800"/>
            <a:ext cx="914400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25786080" y="37490400"/>
            <a:ext cx="914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 i="0">
                <a:solidFill>
                  <a:srgbClr val="475569"/>
                </a:solidFill>
                <a:latin typeface="Calibri"/>
              </a:defRPr>
            </a:pPr>
            <a:r>
              <a:t>QR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